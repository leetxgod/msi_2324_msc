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5" r:id="rId5"/>
    <p:sldId id="287" r:id="rId6"/>
    <p:sldId id="259" r:id="rId7"/>
    <p:sldId id="285" r:id="rId8"/>
    <p:sldId id="260" r:id="rId9"/>
    <p:sldId id="262" r:id="rId10"/>
    <p:sldId id="263" r:id="rId11"/>
    <p:sldId id="272" r:id="rId12"/>
    <p:sldId id="271" r:id="rId13"/>
    <p:sldId id="266" r:id="rId14"/>
    <p:sldId id="273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1" r:id="rId27"/>
    <p:sldId id="288" r:id="rId28"/>
    <p:sldId id="283" r:id="rId29"/>
    <p:sldId id="284" r:id="rId30"/>
    <p:sldId id="28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07" autoAdjust="0"/>
    <p:restoredTop sz="82462" autoAdjust="0"/>
  </p:normalViewPr>
  <p:slideViewPr>
    <p:cSldViewPr snapToGrid="0">
      <p:cViewPr varScale="1">
        <p:scale>
          <a:sx n="131" d="100"/>
          <a:sy n="131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89554-DF78-4BEF-804E-2F94364898A9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2B721-151F-4066-8A78-AC7D988DF61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650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2B721-151F-4066-8A78-AC7D988DF61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801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Expressões</a:t>
            </a:r>
            <a:r>
              <a:rPr lang="en-US" dirty="0"/>
              <a:t> </a:t>
            </a:r>
            <a:r>
              <a:rPr lang="en-US" dirty="0" err="1"/>
              <a:t>regulares</a:t>
            </a:r>
            <a:r>
              <a:rPr lang="en-US" dirty="0"/>
              <a:t> </a:t>
            </a:r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o </a:t>
            </a:r>
            <a:r>
              <a:rPr lang="en-US" dirty="0" err="1"/>
              <a:t>lado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Validação</a:t>
            </a:r>
            <a:r>
              <a:rPr lang="en-US" dirty="0"/>
              <a:t> de entradas de dados, </a:t>
            </a:r>
            <a:r>
              <a:rPr lang="en-US" dirty="0" err="1"/>
              <a:t>extração</a:t>
            </a:r>
            <a:r>
              <a:rPr lang="en-US" dirty="0"/>
              <a:t> de dados, </a:t>
            </a:r>
            <a:r>
              <a:rPr lang="en-US" dirty="0" err="1"/>
              <a:t>procura</a:t>
            </a:r>
            <a:r>
              <a:rPr lang="en-US" dirty="0"/>
              <a:t>/</a:t>
            </a:r>
            <a:r>
              <a:rPr lang="en-US" dirty="0" err="1"/>
              <a:t>troca</a:t>
            </a:r>
            <a:r>
              <a:rPr lang="en-US" dirty="0"/>
              <a:t> de </a:t>
            </a:r>
            <a:r>
              <a:rPr lang="en-US" dirty="0" err="1"/>
              <a:t>padrões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textos</a:t>
            </a:r>
            <a:r>
              <a:rPr lang="en-US" dirty="0"/>
              <a:t>, </a:t>
            </a:r>
            <a:r>
              <a:rPr lang="en-US" dirty="0" err="1"/>
              <a:t>análise</a:t>
            </a:r>
            <a:r>
              <a:rPr lang="en-US" dirty="0"/>
              <a:t> de logs, </a:t>
            </a:r>
            <a:r>
              <a:rPr lang="en-US" dirty="0" err="1"/>
              <a:t>segurança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Devem</a:t>
            </a:r>
            <a:r>
              <a:rPr lang="en-US" dirty="0"/>
              <a:t> ser </a:t>
            </a:r>
            <a:r>
              <a:rPr lang="en-US" dirty="0" err="1"/>
              <a:t>seguros</a:t>
            </a:r>
            <a:r>
              <a:rPr lang="en-US" dirty="0"/>
              <a:t>, </a:t>
            </a:r>
            <a:r>
              <a:rPr lang="en-US" dirty="0" err="1"/>
              <a:t>previsiveis</a:t>
            </a:r>
            <a:r>
              <a:rPr lang="en-US" dirty="0"/>
              <a:t> e </a:t>
            </a:r>
            <a:r>
              <a:rPr lang="en-US" dirty="0" err="1"/>
              <a:t>eficientes</a:t>
            </a:r>
            <a:r>
              <a:rPr lang="en-US" dirty="0"/>
              <a:t> – mas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vezes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!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2B721-151F-4066-8A78-AC7D988DF61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76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automatos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crucial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dirty="0" err="1"/>
              <a:t>vários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automatos</a:t>
            </a:r>
            <a:r>
              <a:rPr lang="en-US" dirty="0"/>
              <a:t> –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relevantes</a:t>
            </a:r>
            <a:r>
              <a:rPr lang="en-US" dirty="0"/>
              <a:t> para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apresentação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deterministicos</a:t>
            </a:r>
            <a:r>
              <a:rPr lang="en-US" dirty="0"/>
              <a:t> 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deterministicos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deterministicos</a:t>
            </a:r>
            <a:r>
              <a:rPr lang="en-US" dirty="0"/>
              <a:t> </a:t>
            </a:r>
            <a:r>
              <a:rPr lang="en-US" dirty="0" err="1"/>
              <a:t>têm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transição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símbolo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estado</a:t>
            </a:r>
            <a:r>
              <a:rPr lang="en-US" dirty="0"/>
              <a:t> – é </a:t>
            </a:r>
            <a:r>
              <a:rPr lang="en-US" dirty="0" err="1"/>
              <a:t>rápido</a:t>
            </a:r>
            <a:r>
              <a:rPr lang="en-US" dirty="0"/>
              <a:t> e </a:t>
            </a:r>
            <a:r>
              <a:rPr lang="en-US" dirty="0" err="1"/>
              <a:t>previsível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fácil</a:t>
            </a:r>
            <a:r>
              <a:rPr lang="en-US" dirty="0"/>
              <a:t> de </a:t>
            </a:r>
            <a:r>
              <a:rPr lang="en-US" dirty="0" err="1"/>
              <a:t>implementar</a:t>
            </a:r>
            <a:r>
              <a:rPr lang="en-US" dirty="0"/>
              <a:t> mas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 de </a:t>
            </a:r>
            <a:r>
              <a:rPr lang="en-US" dirty="0" err="1"/>
              <a:t>imensos</a:t>
            </a:r>
            <a:r>
              <a:rPr lang="en-US" dirty="0"/>
              <a:t> </a:t>
            </a:r>
            <a:r>
              <a:rPr lang="en-US" dirty="0" err="1"/>
              <a:t>estados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não-deterministicos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ter </a:t>
            </a:r>
            <a:r>
              <a:rPr lang="en-US" dirty="0" err="1"/>
              <a:t>várias</a:t>
            </a:r>
            <a:r>
              <a:rPr lang="en-US" dirty="0"/>
              <a:t> </a:t>
            </a:r>
            <a:r>
              <a:rPr lang="en-US" dirty="0" err="1"/>
              <a:t>transições</a:t>
            </a:r>
            <a:r>
              <a:rPr lang="en-US" dirty="0"/>
              <a:t> para 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simbolo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um </a:t>
            </a:r>
            <a:r>
              <a:rPr lang="en-US" dirty="0" err="1"/>
              <a:t>estado</a:t>
            </a:r>
            <a:r>
              <a:rPr lang="en-US" dirty="0"/>
              <a:t> –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utilizar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estados</a:t>
            </a:r>
            <a:r>
              <a:rPr lang="en-US" dirty="0"/>
              <a:t> para </a:t>
            </a:r>
            <a:r>
              <a:rPr lang="en-US" dirty="0" err="1"/>
              <a:t>representar</a:t>
            </a:r>
            <a:r>
              <a:rPr lang="en-US" dirty="0"/>
              <a:t> a </a:t>
            </a:r>
            <a:r>
              <a:rPr lang="en-US" dirty="0" err="1"/>
              <a:t>mesma</a:t>
            </a:r>
            <a:r>
              <a:rPr lang="en-US" dirty="0"/>
              <a:t> </a:t>
            </a:r>
            <a:r>
              <a:rPr lang="en-US" dirty="0" err="1"/>
              <a:t>expressão</a:t>
            </a:r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2B721-151F-4066-8A78-AC7D988DF61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150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“a” é um </a:t>
            </a:r>
            <a:r>
              <a:rPr lang="en-US" dirty="0" err="1"/>
              <a:t>símbolo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O </a:t>
            </a:r>
            <a:r>
              <a:rPr lang="en-US" dirty="0" err="1"/>
              <a:t>alfabeto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linguagem</a:t>
            </a:r>
            <a:r>
              <a:rPr lang="en-US" dirty="0"/>
              <a:t> é o conjunto de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símbolos</a:t>
            </a:r>
            <a:r>
              <a:rPr lang="en-US" dirty="0"/>
              <a:t> da </a:t>
            </a:r>
            <a:r>
              <a:rPr lang="en-US" dirty="0" err="1"/>
              <a:t>mesma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Um </a:t>
            </a:r>
            <a:r>
              <a:rPr lang="en-US" dirty="0" err="1"/>
              <a:t>exemplo</a:t>
            </a:r>
            <a:r>
              <a:rPr lang="en-US" dirty="0"/>
              <a:t> de um </a:t>
            </a:r>
            <a:r>
              <a:rPr lang="en-US" dirty="0" err="1"/>
              <a:t>alfabeto</a:t>
            </a:r>
            <a:r>
              <a:rPr lang="en-US" dirty="0"/>
              <a:t> seria o da </a:t>
            </a:r>
            <a:r>
              <a:rPr lang="en-US" dirty="0" err="1"/>
              <a:t>linguagem</a:t>
            </a:r>
            <a:r>
              <a:rPr lang="en-US" dirty="0"/>
              <a:t> C –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presente</a:t>
            </a:r>
            <a:r>
              <a:rPr lang="en-US" dirty="0"/>
              <a:t> </a:t>
            </a:r>
            <a:r>
              <a:rPr lang="en-US" dirty="0" err="1"/>
              <a:t>nesta</a:t>
            </a:r>
            <a:r>
              <a:rPr lang="en-US" dirty="0"/>
              <a:t> </a:t>
            </a:r>
            <a:r>
              <a:rPr lang="en-US" dirty="0" err="1"/>
              <a:t>tabela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As </a:t>
            </a:r>
            <a:r>
              <a:rPr lang="en-US" dirty="0" err="1"/>
              <a:t>expressões</a:t>
            </a:r>
            <a:r>
              <a:rPr lang="en-US" dirty="0"/>
              <a:t> </a:t>
            </a:r>
            <a:r>
              <a:rPr lang="en-US" dirty="0" err="1"/>
              <a:t>regulares</a:t>
            </a:r>
            <a:r>
              <a:rPr lang="en-US" dirty="0"/>
              <a:t> </a:t>
            </a:r>
            <a:r>
              <a:rPr lang="en-US" dirty="0" err="1"/>
              <a:t>descrevem</a:t>
            </a:r>
            <a:r>
              <a:rPr lang="en-US" dirty="0"/>
              <a:t> conjuntos de </a:t>
            </a:r>
            <a:r>
              <a:rPr lang="en-US" dirty="0" err="1"/>
              <a:t>sequências</a:t>
            </a:r>
            <a:r>
              <a:rPr lang="en-US" dirty="0"/>
              <a:t> de </a:t>
            </a:r>
            <a:r>
              <a:rPr lang="en-US" dirty="0" err="1"/>
              <a:t>símbolos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um </a:t>
            </a:r>
            <a:r>
              <a:rPr lang="en-US" dirty="0" err="1"/>
              <a:t>alfabeto</a:t>
            </a:r>
            <a:r>
              <a:rPr lang="en-US" dirty="0"/>
              <a:t> dos </a:t>
            </a:r>
            <a:r>
              <a:rPr lang="en-US" dirty="0" err="1"/>
              <a:t>mesmos</a:t>
            </a:r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2B721-151F-4066-8A78-AC7D988DF61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584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Catastrophic backtracking: nested repetition</a:t>
            </a:r>
          </a:p>
          <a:p>
            <a:r>
              <a:rPr lang="en-US" dirty="0"/>
              <a:t>Ambiguous alternation with overlapping prefixes</a:t>
            </a:r>
          </a:p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2B721-151F-4066-8A78-AC7D988DF61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00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5671C-D0A9-B45B-48EF-88102E768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FB4F0FA-C4E0-5F26-051F-B79F81409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A57455D-3F09-45A8-7013-A411BB8F4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Catastrophic backtracking: nested repetition</a:t>
            </a:r>
          </a:p>
          <a:p>
            <a:r>
              <a:rPr lang="en-US" dirty="0"/>
              <a:t>Ambiguous alternation with overlapping prefixes</a:t>
            </a:r>
          </a:p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433B214-6AD1-C632-F90C-4224F0D39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2B721-151F-4066-8A78-AC7D988DF61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823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2B721-151F-4066-8A78-AC7D988DF61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650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What</a:t>
            </a:r>
            <a:r>
              <a:rPr lang="pt-PT" dirty="0"/>
              <a:t> are </a:t>
            </a:r>
            <a:r>
              <a:rPr lang="pt-PT" dirty="0" err="1"/>
              <a:t>backreferences</a:t>
            </a:r>
            <a:r>
              <a:rPr lang="pt-PT" dirty="0"/>
              <a:t>, </a:t>
            </a:r>
            <a:r>
              <a:rPr lang="pt-PT" dirty="0" err="1"/>
              <a:t>lookahead</a:t>
            </a:r>
            <a:r>
              <a:rPr lang="pt-PT" dirty="0"/>
              <a:t>/</a:t>
            </a:r>
            <a:r>
              <a:rPr lang="pt-PT" dirty="0" err="1"/>
              <a:t>lookbehind</a:t>
            </a:r>
            <a:r>
              <a:rPr lang="pt-PT" dirty="0"/>
              <a:t> </a:t>
            </a:r>
            <a:r>
              <a:rPr lang="pt-PT" dirty="0" err="1"/>
              <a:t>assertions</a:t>
            </a:r>
            <a:r>
              <a:rPr lang="pt-PT" dirty="0"/>
              <a:t>, non-</a:t>
            </a:r>
            <a:r>
              <a:rPr lang="pt-PT" dirty="0" err="1"/>
              <a:t>greedy</a:t>
            </a:r>
            <a:r>
              <a:rPr lang="pt-PT" dirty="0"/>
              <a:t> </a:t>
            </a:r>
            <a:r>
              <a:rPr lang="pt-PT" dirty="0" err="1"/>
              <a:t>quantifiers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conditional</a:t>
            </a:r>
            <a:r>
              <a:rPr lang="pt-PT" dirty="0"/>
              <a:t> </a:t>
            </a:r>
            <a:r>
              <a:rPr lang="pt-PT" dirty="0" err="1"/>
              <a:t>expressions</a:t>
            </a:r>
            <a:r>
              <a:rPr lang="pt-PT" dirty="0"/>
              <a:t>?</a:t>
            </a:r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2B721-151F-4066-8A78-AC7D988DF6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39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918E-C60D-01B8-31D1-A133ED26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54527D2-AB9F-3353-1DB1-54DDFA187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0D2A7B8-2DA2-7C0E-AAFF-905F59587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What</a:t>
            </a:r>
            <a:r>
              <a:rPr lang="pt-PT" dirty="0"/>
              <a:t> are </a:t>
            </a:r>
            <a:r>
              <a:rPr lang="pt-PT" dirty="0" err="1"/>
              <a:t>backreferences</a:t>
            </a:r>
            <a:r>
              <a:rPr lang="pt-PT" dirty="0"/>
              <a:t>, </a:t>
            </a:r>
            <a:r>
              <a:rPr lang="pt-PT" dirty="0" err="1"/>
              <a:t>lookahead</a:t>
            </a:r>
            <a:r>
              <a:rPr lang="pt-PT" dirty="0"/>
              <a:t>/</a:t>
            </a:r>
            <a:r>
              <a:rPr lang="pt-PT" dirty="0" err="1"/>
              <a:t>lookbehind</a:t>
            </a:r>
            <a:r>
              <a:rPr lang="pt-PT" dirty="0"/>
              <a:t> </a:t>
            </a:r>
            <a:r>
              <a:rPr lang="pt-PT" dirty="0" err="1"/>
              <a:t>assertions</a:t>
            </a:r>
            <a:r>
              <a:rPr lang="pt-PT" dirty="0"/>
              <a:t>, non-</a:t>
            </a:r>
            <a:r>
              <a:rPr lang="pt-PT" dirty="0" err="1"/>
              <a:t>greedy</a:t>
            </a:r>
            <a:r>
              <a:rPr lang="pt-PT" dirty="0"/>
              <a:t> </a:t>
            </a:r>
            <a:r>
              <a:rPr lang="pt-PT" dirty="0" err="1"/>
              <a:t>quantifiers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conditional</a:t>
            </a:r>
            <a:r>
              <a:rPr lang="pt-PT" dirty="0"/>
              <a:t> </a:t>
            </a:r>
            <a:r>
              <a:rPr lang="pt-PT" dirty="0" err="1"/>
              <a:t>expressions</a:t>
            </a:r>
            <a:r>
              <a:rPr lang="pt-PT" dirty="0"/>
              <a:t>?</a:t>
            </a:r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CEF650C-F429-494F-2CAD-AAF5CB7EF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2B721-151F-4066-8A78-AC7D988DF6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02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61FA1-B5BA-C38D-12D2-DCF9984F8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9438AE-A45F-F95B-0A98-14A08EBCD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BB84C10-3E2C-89BB-6B4A-458EEEC0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B9455C1-C0D9-F090-4326-CA6B4199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ABC6DC5-B63A-D70C-BECD-7EA5A0C8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85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FB50B-A230-0BBD-D31E-5ED237D4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0C1049D-6581-F3DF-C404-83E579089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6E27D01-C103-3844-21E3-AF544BF61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142ACF9-4E7A-1EF6-CFFD-05511A4D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DDC2DE7-0B21-849D-5662-E372E5EE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017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0B04D-C650-2574-A3C8-BCDBA376A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2FC114B-C628-F61D-68B9-2BD7D29E4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EB44B5F-9461-B6DC-6F56-2051AF774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3768B7-BF5A-4FCC-A326-1D7B4AC4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9637F1B-DD03-7463-7B1B-A73EB2B5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52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43D49-2645-A078-297C-0BC4988A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A0331C0-43D8-1645-F03A-D965A1D36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F76889C-4A20-54D7-13E5-C876E880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05C6197-904E-AC11-5603-23E68E0B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F05D9EA-1728-2E37-2878-0495B7FCD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87D4564-9FE8-898A-76F3-B6D3B724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8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CA482-570A-8ABF-81C5-321F2AC4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C8CAB08-45CC-B292-B4C2-D1C711BBE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3772FDA-651C-FAF2-44CC-B0E631F78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BB91B771-53C3-592D-0583-5FF89110A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DEBE47C-C04C-A5BA-C258-ABA423D44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50614C2-8709-11BE-6E0C-0E815AE1D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5AA7D80-8CB4-3C83-AEBD-3D92C86E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45D6DE2-29A4-DFF2-95D4-A468932E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0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9178B-057F-5D06-6EA5-64D5153EB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EDE6C6B-4077-F6F8-63A1-FE092871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225D2F5-4BC0-1CED-302D-E6E7A9BDC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E586743-4293-6FA0-57F4-FD471DADD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81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55BC5C8-B745-C0E3-DD03-69AACD58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284CC78C-0E54-9B69-429D-EA2D2F78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3BDD48-5520-96A6-CF1A-A65D7523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023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CCEC1-6ACE-101B-078B-1543F3FD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799275D-F6C3-1833-A2A3-C8359BA7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811BD63-A88E-236D-111A-D03F9B57C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2D0E899-AE27-0B26-20A1-5ED95A1F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2503AAA-D7FF-4EE4-0B75-9F0202E6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823864E-CB7F-6880-CA43-93EC718C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767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68DB5-4E96-3FB2-B232-9BAB8C24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B0221CE-0F48-D853-3059-53CAB877C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236B2A2-128C-A9A4-E10D-5F1514055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71AD0A1-3520-F7B2-D692-C7664FEF2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C42C157-AC11-735E-56BD-42A24B2C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177AB5F-385E-06E6-C7BB-1871753EC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41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8AEB6-92BF-5A44-B1C2-9483E5C0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A162DE0-FD92-8B60-011D-5398E8C60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FABC430-FEF1-636B-B60D-5754C6C1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F75238B-6CB3-7FB6-42CD-58899B22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DFABA0E-E1B4-2437-F39A-FC8223401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62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58F8A6-96D6-E019-C0DD-E0E37C12F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F73E7CB-DB48-2754-8A2D-8E5C11E9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8D53FA6-EBB9-37C9-586E-235BD462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CB862AC-6993-3658-3D7F-BEC5172F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237C74F-A829-B374-B0DD-03FA8863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1670C280-898A-04EB-1CB4-E47D7663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7E4DBAC-EA9D-1BB4-0EE0-A98F8D7FE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3E82CE6-A33C-8C51-D128-1CE08170A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EB3BC-644A-49E8-AF28-CFCA11E842F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4392428-EDC7-02D7-A508-FC53709E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FFF11ED-1A1A-BFE6-1EFC-316094E8F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3DCFB-831E-4FEB-A611-338F35A042C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30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AD911-644B-58D3-1D27-302FFD430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238" y="0"/>
            <a:ext cx="6549190" cy="4193765"/>
          </a:xfrm>
        </p:spPr>
        <p:txBody>
          <a:bodyPr>
            <a:normAutofit/>
          </a:bodyPr>
          <a:lstStyle/>
          <a:p>
            <a:pPr algn="l"/>
            <a:r>
              <a:rPr lang="en-US" noProof="1"/>
              <a:t>Efficient Regular Pattern Matching avoiding Denial of Service</a:t>
            </a:r>
          </a:p>
        </p:txBody>
      </p:sp>
      <p:pic>
        <p:nvPicPr>
          <p:cNvPr id="5" name="Imagem 4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21BBB85C-D88D-20BC-3B64-017FFAD5F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1026" name="Picture 2" descr="ToPAS">
            <a:extLst>
              <a:ext uri="{FF2B5EF4-FFF2-40B4-BE49-F238E27FC236}">
                <a16:creationId xmlns:a16="http://schemas.microsoft.com/office/drawing/2014/main" id="{55CD92B5-B2CE-8FB7-7A6D-38FD731EA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52A888A-A282-EBAD-F171-65FC940AC05C}"/>
              </a:ext>
            </a:extLst>
          </p:cNvPr>
          <p:cNvSpPr txBox="1"/>
          <p:nvPr/>
        </p:nvSpPr>
        <p:spPr>
          <a:xfrm>
            <a:off x="6912882" y="6126175"/>
            <a:ext cx="5237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noProof="1"/>
              <a:t>Master in Information Security</a:t>
            </a:r>
          </a:p>
          <a:p>
            <a:pPr algn="r"/>
            <a:r>
              <a:rPr lang="en-US" sz="1600" noProof="1"/>
              <a:t>Department of Computer Science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4FD8542-2A25-B345-094C-ED8A60B130F5}"/>
              </a:ext>
            </a:extLst>
          </p:cNvPr>
          <p:cNvSpPr txBox="1">
            <a:spLocks/>
          </p:cNvSpPr>
          <p:nvPr/>
        </p:nvSpPr>
        <p:spPr>
          <a:xfrm>
            <a:off x="6095998" y="3331522"/>
            <a:ext cx="6054629" cy="309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="1" noProof="1"/>
              <a:t>Supervisor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655CB34-EAE4-834C-DBBE-AD0F34150D3A}"/>
              </a:ext>
            </a:extLst>
          </p:cNvPr>
          <p:cNvSpPr txBox="1">
            <a:spLocks/>
          </p:cNvSpPr>
          <p:nvPr/>
        </p:nvSpPr>
        <p:spPr>
          <a:xfrm>
            <a:off x="6095994" y="3616372"/>
            <a:ext cx="6054629" cy="309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noProof="1"/>
              <a:t>Rogério Ventura Lages dos Santos Reis, Professor Auxiliar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5560F414-BB86-4EAD-3B67-D0DD5EE20F5C}"/>
              </a:ext>
            </a:extLst>
          </p:cNvPr>
          <p:cNvSpPr txBox="1">
            <a:spLocks/>
          </p:cNvSpPr>
          <p:nvPr/>
        </p:nvSpPr>
        <p:spPr>
          <a:xfrm>
            <a:off x="6095998" y="3901222"/>
            <a:ext cx="6054629" cy="309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="1" noProof="1"/>
              <a:t>Co-supervisor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9F9CCAC4-9D29-4BAB-5B19-F8B148ADC256}"/>
              </a:ext>
            </a:extLst>
          </p:cNvPr>
          <p:cNvSpPr txBox="1">
            <a:spLocks/>
          </p:cNvSpPr>
          <p:nvPr/>
        </p:nvSpPr>
        <p:spPr>
          <a:xfrm>
            <a:off x="6095994" y="4210887"/>
            <a:ext cx="6054629" cy="314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noProof="1"/>
              <a:t>Nelma Resende Araújo Moreira, Professora Associada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AC1B330B-CF77-1DD3-F22E-654897458AAB}"/>
              </a:ext>
            </a:extLst>
          </p:cNvPr>
          <p:cNvSpPr txBox="1">
            <a:spLocks/>
          </p:cNvSpPr>
          <p:nvPr/>
        </p:nvSpPr>
        <p:spPr>
          <a:xfrm>
            <a:off x="6095996" y="2716752"/>
            <a:ext cx="6054629" cy="309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="1" noProof="1"/>
              <a:t>Speaker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BEB62D70-C1C6-4B41-1DCF-5927519E2CE6}"/>
              </a:ext>
            </a:extLst>
          </p:cNvPr>
          <p:cNvSpPr txBox="1">
            <a:spLocks/>
          </p:cNvSpPr>
          <p:nvPr/>
        </p:nvSpPr>
        <p:spPr>
          <a:xfrm>
            <a:off x="6095996" y="2972209"/>
            <a:ext cx="6054629" cy="294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noProof="1"/>
              <a:t>Daniel Afonso de Resende</a:t>
            </a:r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BF6CC21C-71A0-3FD7-3014-F0275E529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525" y="4542843"/>
            <a:ext cx="5568616" cy="189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12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48BDC-A97F-ED20-5A81-FC25C83F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Contents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5D68DE7-9739-7AC0-81D9-6D51E31FA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73650" cy="4956175"/>
          </a:xfrm>
        </p:spPr>
        <p:txBody>
          <a:bodyPr>
            <a:normAutofit/>
          </a:bodyPr>
          <a:lstStyle/>
          <a:p>
            <a:r>
              <a:rPr lang="en-US" noProof="1"/>
              <a:t>Motivation</a:t>
            </a:r>
          </a:p>
          <a:p>
            <a:r>
              <a:rPr lang="en-US" noProof="1"/>
              <a:t>Regex Matchers</a:t>
            </a:r>
          </a:p>
          <a:p>
            <a:r>
              <a:rPr lang="en-US" noProof="1"/>
              <a:t>ReDoS Problem</a:t>
            </a:r>
          </a:p>
          <a:p>
            <a:r>
              <a:rPr lang="en-US" noProof="1"/>
              <a:t>Real-World Cases</a:t>
            </a:r>
          </a:p>
          <a:p>
            <a:r>
              <a:rPr lang="en-US" noProof="1"/>
              <a:t>Legacy</a:t>
            </a:r>
          </a:p>
          <a:p>
            <a:r>
              <a:rPr lang="en-US" noProof="1"/>
              <a:t>Regular expressions &amp; Automata</a:t>
            </a:r>
          </a:p>
          <a:p>
            <a:r>
              <a:rPr lang="en-US" noProof="1"/>
              <a:t>State Of The Art</a:t>
            </a:r>
          </a:p>
          <a:p>
            <a:r>
              <a:rPr lang="en-US" noProof="1"/>
              <a:t>Counting</a:t>
            </a:r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E22297D4-76DE-FAD4-5CAE-F019C5441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C2609263-2CD5-5840-54FB-7D5D9F794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Posição de Conteúdo 2">
            <a:extLst>
              <a:ext uri="{FF2B5EF4-FFF2-40B4-BE49-F238E27FC236}">
                <a16:creationId xmlns:a16="http://schemas.microsoft.com/office/drawing/2014/main" id="{C77ADEB0-5AA2-2C56-93A9-055AA7AC4FC2}"/>
              </a:ext>
            </a:extLst>
          </p:cNvPr>
          <p:cNvSpPr txBox="1">
            <a:spLocks/>
          </p:cNvSpPr>
          <p:nvPr/>
        </p:nvSpPr>
        <p:spPr>
          <a:xfrm>
            <a:off x="5911850" y="1825623"/>
            <a:ext cx="5073650" cy="4956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Fixed &amp; Bounded Repetition</a:t>
            </a:r>
          </a:p>
          <a:p>
            <a:r>
              <a:rPr lang="en-US" noProof="1"/>
              <a:t>Implementation</a:t>
            </a:r>
          </a:p>
          <a:p>
            <a:r>
              <a:rPr lang="en-US" noProof="1"/>
              <a:t>Examples</a:t>
            </a:r>
          </a:p>
          <a:p>
            <a:r>
              <a:rPr lang="en-US" noProof="1"/>
              <a:t>Matching and Enumerating</a:t>
            </a:r>
          </a:p>
          <a:p>
            <a:r>
              <a:rPr lang="en-US" noProof="1"/>
              <a:t>Strengths &amp; Limitations</a:t>
            </a:r>
          </a:p>
          <a:p>
            <a:r>
              <a:rPr lang="en-US" noProof="1"/>
              <a:t>Conclusion</a:t>
            </a:r>
          </a:p>
          <a:p>
            <a:r>
              <a:rPr lang="en-US" noProof="1"/>
              <a:t>Future Work</a:t>
            </a:r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08441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F5EA5-40F9-C135-0279-AE2EC641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Motivation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9A5DEC1-BA17-1481-721F-1E4D766D0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4100" cy="4351338"/>
          </a:xfrm>
        </p:spPr>
        <p:txBody>
          <a:bodyPr/>
          <a:lstStyle/>
          <a:p>
            <a:r>
              <a:rPr lang="en-US" noProof="1"/>
              <a:t>Input validation, data extraction, text replacement, </a:t>
            </a:r>
            <a:r>
              <a:rPr lang="en-US" b="1" noProof="1"/>
              <a:t>log analysis, security</a:t>
            </a:r>
            <a:r>
              <a:rPr lang="en-US" noProof="1"/>
              <a:t>, etc..</a:t>
            </a:r>
          </a:p>
          <a:p>
            <a:r>
              <a:rPr lang="en-US" noProof="1"/>
              <a:t>Should be safe, predictable, and efficient – but sometimes they aren’t!</a:t>
            </a:r>
          </a:p>
        </p:txBody>
      </p:sp>
      <p:pic>
        <p:nvPicPr>
          <p:cNvPr id="1026" name="Picture 2" descr="Snort-Sig | Marketplace and Integrations | ThreatConnect">
            <a:extLst>
              <a:ext uri="{FF2B5EF4-FFF2-40B4-BE49-F238E27FC236}">
                <a16:creationId xmlns:a16="http://schemas.microsoft.com/office/drawing/2014/main" id="{E8173778-39E9-5456-82D2-69C0AFC86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75" y="4401816"/>
            <a:ext cx="3626262" cy="197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729D1A1A-DBBE-5AB5-A4D9-465D55D6C4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56C0A89E-DDB5-5AD7-E54F-512594344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tepad++ - Wikipedia">
            <a:extLst>
              <a:ext uri="{FF2B5EF4-FFF2-40B4-BE49-F238E27FC236}">
                <a16:creationId xmlns:a16="http://schemas.microsoft.com/office/drawing/2014/main" id="{0398637F-5119-48B5-BB1E-37BB017EE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6533" y="2682705"/>
            <a:ext cx="238125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k korzystać z Linuxa? Jaki Linux, czyli o wyborze dystrybucji – Geex">
            <a:extLst>
              <a:ext uri="{FF2B5EF4-FFF2-40B4-BE49-F238E27FC236}">
                <a16:creationId xmlns:a16="http://schemas.microsoft.com/office/drawing/2014/main" id="{CA8A41F6-2BED-C5FA-EC99-1AF9D9B37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322" y="1793160"/>
            <a:ext cx="1906049" cy="220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17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DDEF9-3E17-EBAA-A9A5-8C184C098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Automata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5CDCE5D0-10D8-ECC5-3935-1014AA51B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35D05298-A7CF-5708-368E-46D208767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DF80FA4-9F96-3403-0B68-C778418F6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646" y="2582345"/>
            <a:ext cx="4837339" cy="353440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7881137-54A2-D1A7-7A05-B727AA364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84" y="2206218"/>
            <a:ext cx="5673516" cy="428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9A41B-52BE-B925-C7FA-D87F7C5E6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Regular </a:t>
            </a:r>
            <a:r>
              <a:rPr lang="pt-PT" dirty="0" err="1"/>
              <a:t>Expressions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AF3EAE5-165C-4496-FBBB-8767C6ABE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8300" y="2449929"/>
                <a:ext cx="1384300" cy="364172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pt-PT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pt-PT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pt-PT" b="0" dirty="0"/>
              </a:p>
            </p:txBody>
          </p:sp>
        </mc:Choice>
        <mc:Fallback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AF3EAE5-165C-4496-FBBB-8767C6ABE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300" y="2449929"/>
                <a:ext cx="1384300" cy="364172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BF504F4B-F2BA-D232-AE78-1CC53FCDD1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63447E26-0706-2090-1525-77144DC24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Keywords in C Language - Complete Explanation">
            <a:extLst>
              <a:ext uri="{FF2B5EF4-FFF2-40B4-BE49-F238E27FC236}">
                <a16:creationId xmlns:a16="http://schemas.microsoft.com/office/drawing/2014/main" id="{DF3DA688-29F3-3ED9-F3ED-9EAA1C779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980" y="1489492"/>
            <a:ext cx="5476875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Posição de Conteúdo 2">
            <a:extLst>
              <a:ext uri="{FF2B5EF4-FFF2-40B4-BE49-F238E27FC236}">
                <a16:creationId xmlns:a16="http://schemas.microsoft.com/office/drawing/2014/main" id="{2102F4EC-276F-C9BD-2996-25321FA8B2E1}"/>
              </a:ext>
            </a:extLst>
          </p:cNvPr>
          <p:cNvSpPr txBox="1">
            <a:spLocks/>
          </p:cNvSpPr>
          <p:nvPr/>
        </p:nvSpPr>
        <p:spPr>
          <a:xfrm>
            <a:off x="2823745" y="2449929"/>
            <a:ext cx="4794250" cy="3641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dirty="0"/>
              <a:t>“a”</a:t>
            </a:r>
          </a:p>
          <a:p>
            <a:pPr marL="0" indent="0">
              <a:buNone/>
            </a:pPr>
            <a:r>
              <a:rPr lang="en-US" dirty="0"/>
              <a:t>“x”</a:t>
            </a:r>
          </a:p>
          <a:p>
            <a:pPr marL="0" indent="0">
              <a:buNone/>
            </a:pPr>
            <a:r>
              <a:rPr lang="en-US" dirty="0"/>
              <a:t>“”</a:t>
            </a:r>
          </a:p>
          <a:p>
            <a:pPr marL="0" indent="0">
              <a:buNone/>
            </a:pPr>
            <a:r>
              <a:rPr lang="en-US" dirty="0"/>
              <a:t>“a”, “b”</a:t>
            </a:r>
          </a:p>
          <a:p>
            <a:pPr marL="0" indent="0">
              <a:buNone/>
            </a:pPr>
            <a:r>
              <a:rPr lang="en-US" dirty="0"/>
              <a:t>“ab”</a:t>
            </a:r>
          </a:p>
          <a:p>
            <a:pPr marL="0" indent="0">
              <a:buNone/>
            </a:pPr>
            <a:r>
              <a:rPr lang="pt-PT" dirty="0"/>
              <a:t>zero </a:t>
            </a:r>
            <a:r>
              <a:rPr lang="pt-PT" dirty="0" err="1"/>
              <a:t>or</a:t>
            </a:r>
            <a:r>
              <a:rPr lang="pt-PT" dirty="0"/>
              <a:t> more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‘a’ </a:t>
            </a:r>
            <a:r>
              <a:rPr lang="pt-PT" dirty="0" err="1"/>
              <a:t>symbol</a:t>
            </a:r>
            <a:endParaRPr lang="pt-PT" dirty="0"/>
          </a:p>
          <a:p>
            <a:pPr marL="0" indent="0">
              <a:buNone/>
            </a:pPr>
            <a:r>
              <a:rPr lang="pt-PT" dirty="0" err="1"/>
              <a:t>one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more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‘a’ </a:t>
            </a:r>
            <a:r>
              <a:rPr lang="pt-PT" dirty="0" err="1"/>
              <a:t>symbol</a:t>
            </a:r>
            <a:endParaRPr lang="en-US" dirty="0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20E17023-BF97-0AD5-2973-8932D311B681}"/>
              </a:ext>
            </a:extLst>
          </p:cNvPr>
          <p:cNvSpPr/>
          <p:nvPr/>
        </p:nvSpPr>
        <p:spPr>
          <a:xfrm rot="16200000">
            <a:off x="2068512" y="3927891"/>
            <a:ext cx="439320" cy="685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9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2E70A-E980-935A-6D41-1765C768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454"/>
            <a:ext cx="10515600" cy="1325563"/>
          </a:xfrm>
        </p:spPr>
        <p:txBody>
          <a:bodyPr/>
          <a:lstStyle/>
          <a:p>
            <a:r>
              <a:rPr lang="en-US" noProof="1"/>
              <a:t>Regex Matchers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028AAE4-463F-4DAD-039A-7D225BCFF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1916" cy="4351338"/>
          </a:xfrm>
        </p:spPr>
        <p:txBody>
          <a:bodyPr/>
          <a:lstStyle/>
          <a:p>
            <a:pPr marL="0" indent="0">
              <a:buNone/>
            </a:pPr>
            <a:endParaRPr lang="en-US" noProof="1"/>
          </a:p>
          <a:p>
            <a:r>
              <a:rPr lang="en-US" noProof="1"/>
              <a:t>Backtracking NFA</a:t>
            </a:r>
          </a:p>
          <a:p>
            <a:r>
              <a:rPr lang="en-US" noProof="1"/>
              <a:t>POSIX NFA</a:t>
            </a:r>
          </a:p>
          <a:p>
            <a:r>
              <a:rPr lang="en-US" noProof="1"/>
              <a:t>DFA</a:t>
            </a:r>
          </a:p>
          <a:p>
            <a:r>
              <a:rPr lang="en-US" noProof="1"/>
              <a:t>Hybrid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6DD77F9B-9C04-3CD2-C7CE-6A36F4DC8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AFFE1EE2-911B-08F2-8A46-A7CF92015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78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D1DA5-4355-0976-3D48-47341E92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FE53E-C590-2A14-A47D-04ADCE08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454"/>
            <a:ext cx="10515600" cy="1325563"/>
          </a:xfrm>
        </p:spPr>
        <p:txBody>
          <a:bodyPr/>
          <a:lstStyle/>
          <a:p>
            <a:r>
              <a:rPr lang="en-US" noProof="1"/>
              <a:t>Regular Expression</a:t>
            </a:r>
            <a:br>
              <a:rPr lang="en-US" noProof="1"/>
            </a:br>
            <a:r>
              <a:rPr lang="en-US" noProof="1"/>
              <a:t>Denial of Service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A199B40-84D7-8C3E-5AF1-F6D97B5E3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1916" cy="4351338"/>
          </a:xfrm>
        </p:spPr>
        <p:txBody>
          <a:bodyPr/>
          <a:lstStyle/>
          <a:p>
            <a:pPr marL="0" indent="0">
              <a:buNone/>
            </a:pPr>
            <a:endParaRPr lang="en-US" noProof="1"/>
          </a:p>
          <a:p>
            <a:r>
              <a:rPr lang="en-US" noProof="1"/>
              <a:t>Worst-case behavior of certain “regular expressions”</a:t>
            </a:r>
          </a:p>
          <a:p>
            <a:r>
              <a:rPr lang="en-US" noProof="1"/>
              <a:t>Catastrophic backtracking</a:t>
            </a:r>
          </a:p>
          <a:p>
            <a:endParaRPr lang="en-US" noProof="1"/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066E0B3A-3FDE-D39D-E296-42B90B66A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E68CD8D1-7262-CD75-5EA0-F4ABDD18D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Posição de Conteúdo 2">
            <a:extLst>
              <a:ext uri="{FF2B5EF4-FFF2-40B4-BE49-F238E27FC236}">
                <a16:creationId xmlns:a16="http://schemas.microsoft.com/office/drawing/2014/main" id="{C3D6D851-3A8D-8C80-30AC-1F5A3F22E47B}"/>
              </a:ext>
            </a:extLst>
          </p:cNvPr>
          <p:cNvSpPr txBox="1">
            <a:spLocks/>
          </p:cNvSpPr>
          <p:nvPr/>
        </p:nvSpPr>
        <p:spPr>
          <a:xfrm>
            <a:off x="6310115" y="1940167"/>
            <a:ext cx="3098381" cy="3198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noProof="1"/>
              <a:t>^(a+)+$</a:t>
            </a:r>
          </a:p>
          <a:p>
            <a:pPr marL="0" indent="0" algn="ctr">
              <a:buNone/>
            </a:pPr>
            <a:endParaRPr lang="en-US" noProof="1"/>
          </a:p>
          <a:p>
            <a:pPr marL="0" indent="0" algn="ctr">
              <a:buNone/>
            </a:pPr>
            <a:endParaRPr lang="en-US" noProof="1"/>
          </a:p>
          <a:p>
            <a:pPr marL="0" indent="0" algn="ctr">
              <a:buNone/>
            </a:pPr>
            <a:endParaRPr lang="en-US" noProof="1"/>
          </a:p>
          <a:p>
            <a:pPr marL="0" indent="0" algn="ctr">
              <a:buNone/>
            </a:pPr>
            <a:endParaRPr lang="en-US" noProof="1"/>
          </a:p>
          <a:p>
            <a:pPr marL="0" indent="0" algn="ctr">
              <a:buNone/>
            </a:pPr>
            <a:r>
              <a:rPr lang="en-US" noProof="1"/>
              <a:t>^a+$</a:t>
            </a:r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FBF39D01-DFE3-CAAE-C2A1-02CCE8D85842}"/>
              </a:ext>
            </a:extLst>
          </p:cNvPr>
          <p:cNvCxnSpPr/>
          <p:nvPr/>
        </p:nvCxnSpPr>
        <p:spPr>
          <a:xfrm>
            <a:off x="7934876" y="2439029"/>
            <a:ext cx="0" cy="1979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069F36A6-1E90-2AE1-443D-A8C9FD468A07}"/>
              </a:ext>
            </a:extLst>
          </p:cNvPr>
          <p:cNvSpPr txBox="1">
            <a:spLocks/>
          </p:cNvSpPr>
          <p:nvPr/>
        </p:nvSpPr>
        <p:spPr>
          <a:xfrm>
            <a:off x="8596115" y="1940167"/>
            <a:ext cx="3098381" cy="3198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noProof="1"/>
              <a:t>^(foo|fo)+$</a:t>
            </a:r>
          </a:p>
          <a:p>
            <a:pPr marL="0" indent="0" algn="ctr">
              <a:buNone/>
            </a:pPr>
            <a:endParaRPr lang="en-US" noProof="1"/>
          </a:p>
          <a:p>
            <a:pPr marL="0" indent="0" algn="ctr">
              <a:buNone/>
            </a:pPr>
            <a:endParaRPr lang="en-US" noProof="1"/>
          </a:p>
          <a:p>
            <a:pPr marL="0" indent="0" algn="ctr">
              <a:buNone/>
            </a:pPr>
            <a:endParaRPr lang="en-US" noProof="1"/>
          </a:p>
          <a:p>
            <a:pPr marL="0" indent="0" algn="ctr">
              <a:buNone/>
            </a:pPr>
            <a:endParaRPr lang="en-US" noProof="1"/>
          </a:p>
          <a:p>
            <a:pPr marL="0" indent="0" algn="ctr">
              <a:buNone/>
            </a:pPr>
            <a:r>
              <a:rPr lang="en-US" noProof="1"/>
              <a:t>^(?:foo|fo)+$</a:t>
            </a:r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4E814508-8C70-77C8-0F6F-AFF162939253}"/>
              </a:ext>
            </a:extLst>
          </p:cNvPr>
          <p:cNvCxnSpPr/>
          <p:nvPr/>
        </p:nvCxnSpPr>
        <p:spPr>
          <a:xfrm>
            <a:off x="10145305" y="2439028"/>
            <a:ext cx="0" cy="1979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96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C8C39-1BF0-9824-41BE-56065055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StackOverflow 2016 outage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3E22EAD-F078-BD62-42E5-553F9D0F0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8169" cy="4351338"/>
          </a:xfrm>
        </p:spPr>
        <p:txBody>
          <a:bodyPr/>
          <a:lstStyle/>
          <a:p>
            <a:r>
              <a:rPr lang="en-US" noProof="1"/>
              <a:t>34 minute downtime</a:t>
            </a:r>
          </a:p>
          <a:p>
            <a:r>
              <a:rPr lang="en-US" noProof="1"/>
              <a:t>Regular expression for long whitespace trimming</a:t>
            </a:r>
          </a:p>
          <a:p>
            <a:r>
              <a:rPr lang="en-US" noProof="1"/>
              <a:t>Fix was to change to a substring function</a:t>
            </a:r>
          </a:p>
          <a:p>
            <a:endParaRPr lang="en-US" noProof="1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AD271A9-C6F0-4FF9-08EA-6DD5BADD9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369" y="1998588"/>
            <a:ext cx="5811061" cy="105742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255C926-0A9D-97F6-A132-49C220F3FE63}"/>
              </a:ext>
            </a:extLst>
          </p:cNvPr>
          <p:cNvSpPr/>
          <p:nvPr/>
        </p:nvSpPr>
        <p:spPr>
          <a:xfrm>
            <a:off x="6096000" y="2235200"/>
            <a:ext cx="2647950" cy="69215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2B1BA59-05E8-B52A-CC26-C2488215DD94}"/>
              </a:ext>
            </a:extLst>
          </p:cNvPr>
          <p:cNvSpPr/>
          <p:nvPr/>
        </p:nvSpPr>
        <p:spPr>
          <a:xfrm>
            <a:off x="8893581" y="2235200"/>
            <a:ext cx="2647950" cy="69215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CB718E09-6C35-BD8C-B71C-35D005361CB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058027" y="2927350"/>
            <a:ext cx="36716" cy="113744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95C643BE-E366-5BF8-56F9-5B9F00AE452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994046" y="2921794"/>
            <a:ext cx="58941" cy="111283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FC933E6-5AD1-2F40-523D-C9E49946D61C}"/>
              </a:ext>
            </a:extLst>
          </p:cNvPr>
          <p:cNvSpPr txBox="1"/>
          <p:nvPr/>
        </p:nvSpPr>
        <p:spPr>
          <a:xfrm>
            <a:off x="6240669" y="4064794"/>
            <a:ext cx="1708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Match all spaces from the </a:t>
            </a:r>
            <a:r>
              <a:rPr lang="en-US" b="1" noProof="1"/>
              <a:t>start</a:t>
            </a:r>
            <a:r>
              <a:rPr lang="en-US" noProof="1"/>
              <a:t> of the string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432612A-028C-297D-F520-1A0036E90EDC}"/>
              </a:ext>
            </a:extLst>
          </p:cNvPr>
          <p:cNvSpPr txBox="1"/>
          <p:nvPr/>
        </p:nvSpPr>
        <p:spPr>
          <a:xfrm>
            <a:off x="10198913" y="4034632"/>
            <a:ext cx="1708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Match all spaces until the </a:t>
            </a:r>
            <a:r>
              <a:rPr lang="en-US" b="1" noProof="1"/>
              <a:t>end</a:t>
            </a:r>
            <a:r>
              <a:rPr lang="en-US" noProof="1"/>
              <a:t> of the string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188F476-E815-3217-264D-A47B1C59EDD3}"/>
              </a:ext>
            </a:extLst>
          </p:cNvPr>
          <p:cNvSpPr/>
          <p:nvPr/>
        </p:nvSpPr>
        <p:spPr>
          <a:xfrm>
            <a:off x="8743950" y="2235200"/>
            <a:ext cx="149631" cy="68659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C72D2D1F-9942-B318-B54A-338AA31D82A5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8818766" y="2921794"/>
            <a:ext cx="33133" cy="11430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F666E03-AAC3-0ED4-1E1A-F7371B9F2D25}"/>
              </a:ext>
            </a:extLst>
          </p:cNvPr>
          <p:cNvSpPr txBox="1"/>
          <p:nvPr/>
        </p:nvSpPr>
        <p:spPr>
          <a:xfrm>
            <a:off x="7997825" y="4064794"/>
            <a:ext cx="170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1"/>
              <a:t>or</a:t>
            </a:r>
          </a:p>
        </p:txBody>
      </p:sp>
      <p:pic>
        <p:nvPicPr>
          <p:cNvPr id="24" name="Imagem 2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81D1860C-A90B-121E-C907-677ECF9A5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25" name="Picture 2" descr="ToPAS">
            <a:extLst>
              <a:ext uri="{FF2B5EF4-FFF2-40B4-BE49-F238E27FC236}">
                <a16:creationId xmlns:a16="http://schemas.microsoft.com/office/drawing/2014/main" id="{F132F8F1-4E99-2123-A693-348C8473C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84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80E2-4412-F556-1B6D-202FD227C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1E46C-A10B-6982-04E3-91971D33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CVE-2022-3517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E9E85BC-525D-841B-C8D8-3467FB8A4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8169" cy="4351338"/>
          </a:xfrm>
        </p:spPr>
        <p:txBody>
          <a:bodyPr/>
          <a:lstStyle/>
          <a:p>
            <a:r>
              <a:rPr lang="en-US" noProof="1"/>
              <a:t>Used in npm</a:t>
            </a:r>
          </a:p>
          <a:p>
            <a:r>
              <a:rPr lang="en-US" noProof="1"/>
              <a:t>12.92M downloads (3.0.4)</a:t>
            </a:r>
          </a:p>
          <a:p>
            <a:r>
              <a:rPr lang="en-US" noProof="1"/>
              <a:t>7.5 CVSS</a:t>
            </a:r>
          </a:p>
          <a:p>
            <a:r>
              <a:rPr lang="en-US" noProof="1"/>
              <a:t>Versions &lt;=3.0.4 were affected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A44034-3E9E-73EF-B347-3407C721E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924" y="2077632"/>
            <a:ext cx="1657581" cy="733527"/>
          </a:xfrm>
          <a:prstGeom prst="rect">
            <a:avLst/>
          </a:prstGeom>
        </p:spPr>
      </p:pic>
      <p:pic>
        <p:nvPicPr>
          <p:cNvPr id="6" name="Imagem 5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1849B200-46B6-A748-E3F0-62A1CAAE0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10" name="Picture 2" descr="ToPAS">
            <a:extLst>
              <a:ext uri="{FF2B5EF4-FFF2-40B4-BE49-F238E27FC236}">
                <a16:creationId xmlns:a16="http://schemas.microsoft.com/office/drawing/2014/main" id="{3E2DAAB8-988E-75EB-82F1-4F917C27F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066F69C-2236-0E83-C800-ABD405E19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3844" y="3803631"/>
            <a:ext cx="2945746" cy="733526"/>
          </a:xfrm>
          <a:prstGeom prst="rect">
            <a:avLst/>
          </a:prstGeom>
        </p:spPr>
      </p:pic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80953A5A-8BB3-7311-FBC6-FDE8FCC0A211}"/>
              </a:ext>
            </a:extLst>
          </p:cNvPr>
          <p:cNvSpPr/>
          <p:nvPr/>
        </p:nvSpPr>
        <p:spPr>
          <a:xfrm>
            <a:off x="9357165" y="3033320"/>
            <a:ext cx="419100" cy="7335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1E740DB-6EDF-5AAC-96BC-DBC15ABE5264}"/>
              </a:ext>
            </a:extLst>
          </p:cNvPr>
          <p:cNvSpPr txBox="1"/>
          <p:nvPr/>
        </p:nvSpPr>
        <p:spPr>
          <a:xfrm>
            <a:off x="8093842" y="4995795"/>
            <a:ext cx="2945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1"/>
              <a:t>assertValidPattern</a:t>
            </a:r>
          </a:p>
          <a:p>
            <a:pPr algn="ctr"/>
            <a:r>
              <a:rPr lang="en-US" noProof="1"/>
              <a:t>MAX_PATTERN_LENGTH</a:t>
            </a:r>
          </a:p>
        </p:txBody>
      </p:sp>
      <p:sp>
        <p:nvSpPr>
          <p:cNvPr id="26" name="Sinal de Adição 25">
            <a:extLst>
              <a:ext uri="{FF2B5EF4-FFF2-40B4-BE49-F238E27FC236}">
                <a16:creationId xmlns:a16="http://schemas.microsoft.com/office/drawing/2014/main" id="{9EA9CCA8-C7FF-343E-4094-E80E6E70164B}"/>
              </a:ext>
            </a:extLst>
          </p:cNvPr>
          <p:cNvSpPr/>
          <p:nvPr/>
        </p:nvSpPr>
        <p:spPr>
          <a:xfrm>
            <a:off x="9357165" y="4551474"/>
            <a:ext cx="419100" cy="444321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9CFD097-18B6-6D0D-7867-7AFDE2AC591D}"/>
              </a:ext>
            </a:extLst>
          </p:cNvPr>
          <p:cNvSpPr txBox="1"/>
          <p:nvPr/>
        </p:nvSpPr>
        <p:spPr>
          <a:xfrm>
            <a:off x="1191296" y="5415566"/>
            <a:ext cx="6227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{aaaaaaaaaaaaaaaaaaaaaaaaaaaaaaaaaaaaa...</a:t>
            </a:r>
          </a:p>
          <a:p>
            <a:endParaRPr lang="en-US" noProof="1"/>
          </a:p>
          <a:p>
            <a:r>
              <a:rPr lang="en-US" noProof="1"/>
              <a:t>				would be </a:t>
            </a:r>
            <a:r>
              <a:rPr lang="en-US" b="1" noProof="1"/>
              <a:t>catastrophic</a:t>
            </a:r>
            <a:r>
              <a:rPr lang="en-US" noProof="1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83728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BB2D1-FB0B-BA9C-F38C-120246AB8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Legacy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ECD65F6-C002-273B-065C-6EDDA416D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09200" cy="4351338"/>
          </a:xfrm>
        </p:spPr>
        <p:txBody>
          <a:bodyPr>
            <a:normAutofit/>
          </a:bodyPr>
          <a:lstStyle/>
          <a:p>
            <a:r>
              <a:rPr lang="en-US" noProof="1"/>
              <a:t>Backwards compatibility</a:t>
            </a:r>
          </a:p>
          <a:p>
            <a:r>
              <a:rPr lang="en-US" noProof="1"/>
              <a:t>Performance changes</a:t>
            </a:r>
          </a:p>
          <a:p>
            <a:r>
              <a:rPr lang="en-US" noProof="1"/>
              <a:t>Somewhat unaware of ReDoS</a:t>
            </a:r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pPr marL="0" indent="0">
              <a:buNone/>
            </a:pPr>
            <a:r>
              <a:rPr lang="en-US" noProof="1"/>
              <a:t>						if it works, it works..</a:t>
            </a:r>
          </a:p>
          <a:p>
            <a:endParaRPr lang="en-US" noProof="1"/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E065D97F-BB93-652F-65A1-58DCA2A54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C308B695-2293-E488-BFC6-CDB1F02D3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838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CC988-7A26-39ED-BD50-A4BAADD9F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Single and Sub-Matching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D2D544A-5165-CEBE-D23C-B862272E3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0" y="2771774"/>
            <a:ext cx="3676650" cy="511175"/>
          </a:xfrm>
        </p:spPr>
        <p:txBody>
          <a:bodyPr anchor="ctr"/>
          <a:lstStyle/>
          <a:p>
            <a:pPr marL="0" indent="0">
              <a:buNone/>
            </a:pPr>
            <a:r>
              <a:rPr lang="en-US" noProof="1"/>
              <a:t>Single matching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69A83FAC-79A4-74F5-6B85-0F0A14FA4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2EEAA9DB-B169-3B3F-CDF8-9A10D7FC0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CA3205-B0CB-E21B-50EF-D4BD9A81D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650" y="2646201"/>
            <a:ext cx="2087723" cy="762322"/>
          </a:xfrm>
          <a:prstGeom prst="rect">
            <a:avLst/>
          </a:prstGeom>
        </p:spPr>
      </p:pic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9CB4E14D-DD17-B776-72D6-379A94B58678}"/>
              </a:ext>
            </a:extLst>
          </p:cNvPr>
          <p:cNvSpPr txBox="1">
            <a:spLocks/>
          </p:cNvSpPr>
          <p:nvPr/>
        </p:nvSpPr>
        <p:spPr>
          <a:xfrm>
            <a:off x="1778000" y="3781425"/>
            <a:ext cx="3676650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noProof="1"/>
              <a:t>Sub-matching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26038AA-1C22-4E6C-AB3C-1E802EAB8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650" y="3651195"/>
            <a:ext cx="3553321" cy="771633"/>
          </a:xfrm>
          <a:prstGeom prst="rect">
            <a:avLst/>
          </a:prstGeom>
        </p:spPr>
      </p:pic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F78A47E6-0219-D0A0-6457-8BC491390133}"/>
              </a:ext>
            </a:extLst>
          </p:cNvPr>
          <p:cNvCxnSpPr>
            <a:endCxn id="7" idx="1"/>
          </p:cNvCxnSpPr>
          <p:nvPr/>
        </p:nvCxnSpPr>
        <p:spPr>
          <a:xfrm>
            <a:off x="4387850" y="3027361"/>
            <a:ext cx="10668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0593AEAA-748B-3636-ADB1-52B68BF56785}"/>
              </a:ext>
            </a:extLst>
          </p:cNvPr>
          <p:cNvCxnSpPr>
            <a:cxnSpLocks/>
          </p:cNvCxnSpPr>
          <p:nvPr/>
        </p:nvCxnSpPr>
        <p:spPr>
          <a:xfrm>
            <a:off x="4121150" y="4037011"/>
            <a:ext cx="1333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18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915CF-B671-7EDA-AFAB-66155D14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FAdo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95F077C-6C5E-587A-0D37-2A06B1685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0900" cy="2003425"/>
          </a:xfrm>
        </p:spPr>
        <p:txBody>
          <a:bodyPr>
            <a:normAutofit/>
          </a:bodyPr>
          <a:lstStyle/>
          <a:p>
            <a:r>
              <a:rPr lang="en-US" noProof="1"/>
              <a:t>Automata manipulation</a:t>
            </a:r>
          </a:p>
          <a:p>
            <a:r>
              <a:rPr lang="en-US" noProof="1"/>
              <a:t>Easy prototyping</a:t>
            </a:r>
          </a:p>
          <a:p>
            <a:r>
              <a:rPr lang="en-US" noProof="1"/>
              <a:t>Uses Lark for language parsing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FBBF1F30-F6CA-A11A-953E-D1CDB7B3A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E10DFF59-E08F-EEB3-0CF7-A3F9AB9DC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FAdo">
            <a:extLst>
              <a:ext uri="{FF2B5EF4-FFF2-40B4-BE49-F238E27FC236}">
                <a16:creationId xmlns:a16="http://schemas.microsoft.com/office/drawing/2014/main" id="{141A8185-0557-0D7C-7FF7-0E64D9AE8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479" y="2191328"/>
            <a:ext cx="4395522" cy="1149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C9AC0E3-062E-ED87-FA0F-1F3C2642A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706" y="3927367"/>
            <a:ext cx="2800741" cy="154326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4522FF5-41EC-CEB4-ECD4-8D9169862B96}"/>
              </a:ext>
            </a:extLst>
          </p:cNvPr>
          <p:cNvSpPr txBox="1"/>
          <p:nvPr/>
        </p:nvSpPr>
        <p:spPr>
          <a:xfrm>
            <a:off x="930553" y="4246701"/>
            <a:ext cx="1797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CEmptySet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CEpsilon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CAtom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CDisj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Cconcat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CStar</a:t>
            </a:r>
          </a:p>
        </p:txBody>
      </p:sp>
    </p:spTree>
    <p:extLst>
      <p:ext uri="{BB962C8B-B14F-4D97-AF65-F5344CB8AC3E}">
        <p14:creationId xmlns:p14="http://schemas.microsoft.com/office/powerpoint/2010/main" val="1997586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2EDF7-FF5C-497C-ED22-34E03D19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POSIX Syntax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5E3343B-6133-A72E-E86F-C66C71014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0" y="2281237"/>
            <a:ext cx="1162050" cy="530225"/>
          </a:xfrm>
        </p:spPr>
        <p:txBody>
          <a:bodyPr/>
          <a:lstStyle/>
          <a:p>
            <a:pPr marL="0" indent="0">
              <a:buNone/>
            </a:pPr>
            <a:r>
              <a:rPr lang="en-US" noProof="1"/>
              <a:t>POSIX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2EB10F9C-CFAA-9DB8-6828-882EF7734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7751FB97-BF8B-BF2C-3F0D-C95BD3A02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Posição de Conteúdo 2">
            <a:extLst>
              <a:ext uri="{FF2B5EF4-FFF2-40B4-BE49-F238E27FC236}">
                <a16:creationId xmlns:a16="http://schemas.microsoft.com/office/drawing/2014/main" id="{C8D69A4B-380A-C4FD-4D0D-C69724A68BD5}"/>
              </a:ext>
            </a:extLst>
          </p:cNvPr>
          <p:cNvSpPr txBox="1">
            <a:spLocks/>
          </p:cNvSpPr>
          <p:nvPr/>
        </p:nvSpPr>
        <p:spPr>
          <a:xfrm>
            <a:off x="8223250" y="4476749"/>
            <a:ext cx="88900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1"/>
              <a:t>BRE</a:t>
            </a:r>
          </a:p>
        </p:txBody>
      </p:sp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B1519FD7-248B-7EB2-E976-6E8B4DE53E8E}"/>
              </a:ext>
            </a:extLst>
          </p:cNvPr>
          <p:cNvSpPr txBox="1">
            <a:spLocks/>
          </p:cNvSpPr>
          <p:nvPr/>
        </p:nvSpPr>
        <p:spPr>
          <a:xfrm>
            <a:off x="10274300" y="4476749"/>
            <a:ext cx="88900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1"/>
              <a:t>ERE</a:t>
            </a:r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A6D66E30-5C9B-63FA-6ED2-58610ABEEC93}"/>
              </a:ext>
            </a:extLst>
          </p:cNvPr>
          <p:cNvCxnSpPr>
            <a:stCxn id="3" idx="2"/>
            <a:endCxn id="7" idx="0"/>
          </p:cNvCxnSpPr>
          <p:nvPr/>
        </p:nvCxnSpPr>
        <p:spPr>
          <a:xfrm flipH="1">
            <a:off x="8667750" y="2811462"/>
            <a:ext cx="1025525" cy="1665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058CD173-03B8-E28B-7639-E5D1E0879D5B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9693275" y="2811462"/>
            <a:ext cx="1025525" cy="1665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arcador de Posição de Conteúdo 2">
            <a:extLst>
              <a:ext uri="{FF2B5EF4-FFF2-40B4-BE49-F238E27FC236}">
                <a16:creationId xmlns:a16="http://schemas.microsoft.com/office/drawing/2014/main" id="{E0D9EFC4-9CE8-79F9-3E45-3A7FAA25920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991350" cy="2511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Used in grep, sed, and awk</a:t>
            </a:r>
          </a:p>
          <a:p>
            <a:r>
              <a:rPr lang="en-US" noProof="1"/>
              <a:t>Leftmost-longest match semantics</a:t>
            </a:r>
          </a:p>
          <a:p>
            <a:r>
              <a:rPr lang="en-US" noProof="1"/>
              <a:t>No backreferences, lookahead/lookbehind assertions, non-greedy quantifiers, and conditional expressions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24860F-AD4F-24B5-0500-E1A01043C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700408"/>
              </p:ext>
            </p:extLst>
          </p:nvPr>
        </p:nvGraphicFramePr>
        <p:xfrm>
          <a:off x="1130300" y="4476749"/>
          <a:ext cx="54165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744">
                  <a:extLst>
                    <a:ext uri="{9D8B030D-6E8A-4147-A177-3AD203B41FA5}">
                      <a16:colId xmlns:a16="http://schemas.microsoft.com/office/drawing/2014/main" val="3679215055"/>
                    </a:ext>
                  </a:extLst>
                </a:gridCol>
                <a:gridCol w="1195440">
                  <a:extLst>
                    <a:ext uri="{9D8B030D-6E8A-4147-A177-3AD203B41FA5}">
                      <a16:colId xmlns:a16="http://schemas.microsoft.com/office/drawing/2014/main" val="3338552071"/>
                    </a:ext>
                  </a:extLst>
                </a:gridCol>
                <a:gridCol w="1340866">
                  <a:extLst>
                    <a:ext uri="{9D8B030D-6E8A-4147-A177-3AD203B41FA5}">
                      <a16:colId xmlns:a16="http://schemas.microsoft.com/office/drawing/2014/main" val="12901067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039284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1"/>
                        <a:t>Syntax 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3 a’s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One or more a’s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‘b’ or ‘ab’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52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1"/>
                        <a:t>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a\{3\}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a\+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a\?b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52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1"/>
                        <a:t>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a{3}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a?b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478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496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632-8B44-914D-D189-5EC1012CB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62AB7-FBB0-4D09-7072-35D349A5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PCRE Syntax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7F1B5FC6-B599-6DC5-AC2D-8737EE868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DB891C4E-91B5-D829-1AFC-758B8EAFD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arcador de Posição de Conteúdo 2">
                <a:extLst>
                  <a:ext uri="{FF2B5EF4-FFF2-40B4-BE49-F238E27FC236}">
                    <a16:creationId xmlns:a16="http://schemas.microsoft.com/office/drawing/2014/main" id="{4C529490-0C5E-B50F-748C-9CB02FB6AF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445750" cy="38195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noProof="1"/>
                  <a:t>Used in Apache web servers, as well as in Perl, PHP, R, and JavaScript</a:t>
                </a:r>
              </a:p>
              <a:p>
                <a:r>
                  <a:rPr lang="en-US" noProof="1"/>
                  <a:t>Features go beyond POSIX and theoretical regular languages</a:t>
                </a:r>
              </a:p>
              <a:p>
                <a:r>
                  <a:rPr lang="en-US" noProof="1"/>
                  <a:t>One can match non-context-free languages, such as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noProof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noProof="1"/>
              </a:p>
            </p:txBody>
          </p:sp>
        </mc:Choice>
        <mc:Fallback xmlns="">
          <p:sp>
            <p:nvSpPr>
              <p:cNvPr id="15" name="Marcador de Posição de Conteúdo 2">
                <a:extLst>
                  <a:ext uri="{FF2B5EF4-FFF2-40B4-BE49-F238E27FC236}">
                    <a16:creationId xmlns:a16="http://schemas.microsoft.com/office/drawing/2014/main" id="{4C529490-0C5E-B50F-748C-9CB02FB6A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445750" cy="3819525"/>
              </a:xfrm>
              <a:prstGeom prst="rect">
                <a:avLst/>
              </a:prstGeom>
              <a:blipFill>
                <a:blip r:embed="rId5"/>
                <a:stretch>
                  <a:fillRect l="-1051" t="-2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371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FCF346-6E68-481D-3235-7B2913C2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State of the art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46BDE23-F97A-ED57-301C-F47C33384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1"/>
              <a:t>RE2</a:t>
            </a:r>
          </a:p>
          <a:p>
            <a:r>
              <a:rPr lang="en-US" noProof="1"/>
              <a:t>PCRE2</a:t>
            </a:r>
          </a:p>
          <a:p>
            <a:r>
              <a:rPr lang="en-US" noProof="1"/>
              <a:t>Hyperscan</a:t>
            </a:r>
          </a:p>
          <a:p>
            <a:r>
              <a:rPr lang="en-US" noProof="1"/>
              <a:t>Rust’s </a:t>
            </a:r>
            <a:r>
              <a:rPr lang="en-US" i="1" noProof="1"/>
              <a:t>regex</a:t>
            </a:r>
            <a:r>
              <a:rPr lang="en-US" noProof="1"/>
              <a:t> crate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EA297C77-0D68-5F48-4E3E-D0DD19559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B60B6903-AB42-DA91-FEF1-D3BE14544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049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E7584-CD43-2718-BCC1-B1862389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Detecting ReDoS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3400B70-6328-2F23-E3C3-71E66A804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1"/>
              <a:t>Revealer</a:t>
            </a:r>
          </a:p>
          <a:p>
            <a:r>
              <a:rPr lang="en-US" noProof="1"/>
              <a:t>ReScue</a:t>
            </a:r>
          </a:p>
          <a:p>
            <a:r>
              <a:rPr lang="en-US" noProof="1"/>
              <a:t>ReDoSHunter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5FD5A222-CE18-E1BF-CFB6-E2BFF8F5C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F8B17F6C-173F-2FE6-7DA1-879EBCB58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416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831AC-3F66-C372-F473-40F4B7735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Counting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0689552-8772-CC4A-AEC5-EA64B4A66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36200" cy="4351338"/>
          </a:xfrm>
        </p:spPr>
        <p:txBody>
          <a:bodyPr/>
          <a:lstStyle/>
          <a:p>
            <a:r>
              <a:rPr lang="en-US" noProof="1"/>
              <a:t>The ability  for a language or an automaton to enforce numeric constraints over the number of symbols or patterns within strings</a:t>
            </a:r>
          </a:p>
          <a:p>
            <a:r>
              <a:rPr lang="en-US" noProof="1"/>
              <a:t>Doable, but complex, and mostly inefficient</a:t>
            </a:r>
          </a:p>
          <a:p>
            <a:r>
              <a:rPr lang="en-US" noProof="1"/>
              <a:t>The goal is to be </a:t>
            </a:r>
            <a:r>
              <a:rPr lang="en-US" b="1" noProof="1"/>
              <a:t>efficient</a:t>
            </a:r>
            <a:r>
              <a:rPr lang="en-US" noProof="1"/>
              <a:t> and </a:t>
            </a:r>
            <a:r>
              <a:rPr lang="en-US" b="1" noProof="1"/>
              <a:t>secure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9CF80B74-2C74-CF4C-9BC4-AA179AE40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A36B2374-698F-28AD-0AA1-FD01FBA3B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750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7D6CB-5DEF-3F1C-EB96-E508EAC3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Counting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691C078-30FB-B8F3-0260-7C3B22D59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475" y="1287140"/>
            <a:ext cx="357505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noProof="1"/>
              <a:t>Fixed repetition </a:t>
            </a:r>
          </a:p>
          <a:p>
            <a:endParaRPr lang="en-US" noProof="1"/>
          </a:p>
          <a:p>
            <a:endParaRPr lang="en-US" noProof="1"/>
          </a:p>
          <a:p>
            <a:pPr marL="0" indent="0">
              <a:buNone/>
            </a:pPr>
            <a:endParaRPr lang="en-US" noProof="1"/>
          </a:p>
          <a:p>
            <a:pPr marL="0" indent="0" algn="ctr">
              <a:buNone/>
            </a:pPr>
            <a:r>
              <a:rPr lang="en-US" noProof="1"/>
              <a:t>Bounded repetition 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4ECC0A9D-8F2D-55C3-70CE-430FCEC51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3DBC86CB-BD8A-BC3A-B448-55A9F6209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38EA96F-B9C5-1E2B-9A55-8EAF09A2F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706" y="1751663"/>
            <a:ext cx="5820587" cy="9050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F9AF100-2137-041D-DC6B-A76D99A44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0216" y="3766763"/>
            <a:ext cx="7131566" cy="128662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067F7F2-33BA-D89B-568C-2A67C9E06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1310" y="5053386"/>
            <a:ext cx="6649378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43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835E1-A2FA-4797-7BDF-BB5D149B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Counting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D292E42-BA56-4867-5942-D726FC557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222"/>
            <a:ext cx="9563100" cy="2009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1"/>
              <a:t>Derivatives, partial derivatives and linear form implemented for the following classes:</a:t>
            </a:r>
          </a:p>
          <a:p>
            <a:r>
              <a:rPr lang="en-US" noProof="1"/>
              <a:t>CPower</a:t>
            </a:r>
          </a:p>
          <a:p>
            <a:r>
              <a:rPr lang="en-US" noProof="1"/>
              <a:t>CCount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26157610-F1E9-6F04-10E8-BA95C0B33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DADFD782-E4E3-F3AC-0FF0-A92BB0300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12541C3-48A0-3450-75BA-F54020CC2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84851"/>
            <a:ext cx="10478962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48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EE428-446F-0859-8345-8C7056CD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Multiple Matching</a:t>
            </a:r>
          </a:p>
        </p:txBody>
      </p:sp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2E2C3D0B-3B45-5ADE-00B7-57F7C8604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368" y="3080479"/>
            <a:ext cx="9734599" cy="1325563"/>
          </a:xfrm>
          <a:prstGeom prst="rect">
            <a:avLst/>
          </a:prstGeom>
        </p:spPr>
      </p:pic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029E7138-FFCF-8B11-6B61-FCCCBE7C9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D5AE4A67-9ECC-58F5-9CD2-623454070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338A2-1BB1-CFFC-33FC-4EC22C33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86550" cy="1325563"/>
          </a:xfrm>
        </p:spPr>
        <p:txBody>
          <a:bodyPr/>
          <a:lstStyle/>
          <a:p>
            <a:r>
              <a:rPr lang="en-US" noProof="1"/>
              <a:t>Overlapped versus Non-overlapped matching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864963CC-BD28-1FE6-3B61-6FC4FABF9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6CE444BB-CEC6-ACFC-F3EC-B962FC553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0F19239-0BAB-3AA8-BF1B-82AFE2FF3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180" y="3221976"/>
            <a:ext cx="2858937" cy="275402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EA3A43C-B353-FA93-3DAE-7C2077E7C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5433" y="2216136"/>
            <a:ext cx="3229259" cy="68741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9E1C03B-8956-03A5-EB5A-37863FA88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712" y="3591281"/>
            <a:ext cx="2777208" cy="183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83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245E5-B457-5710-B06C-945A0568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Modified Position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89ED4706-43CE-D074-6607-8EA17E8E7E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PT" noProof="1"/>
                  <a:t>State </a:t>
                </a:r>
                <a:r>
                  <a:rPr lang="pt-PT" noProof="1">
                    <a:sym typeface="Wingdings" panose="05000000000000000000" pitchFamily="2" charset="2"/>
                  </a:rPr>
                  <a:t> Indexed RE position</a:t>
                </a:r>
              </a:p>
              <a:p>
                <a:pPr marL="0" indent="0">
                  <a:buNone/>
                </a:pPr>
                <a:r>
                  <a:rPr lang="pt-PT" noProof="1">
                    <a:sym typeface="Wingdings" panose="05000000000000000000" pitchFamily="2" charset="2"/>
                  </a:rPr>
                  <a:t>Given </a:t>
                </a:r>
                <a14:m>
                  <m:oMath xmlns:m="http://schemas.openxmlformats.org/officeDocument/2006/math">
                    <m:r>
                      <a:rPr lang="pt-PT" b="0" i="1" noProof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pt-PT" b="0" i="1" noProof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pt-PT" b="0" i="1" noProof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pt-PT" b="0" i="1" noProof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p>
                        <m:r>
                          <a:rPr lang="pt-PT" b="0" i="1" noProof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2,4</m:t>
                        </m:r>
                      </m:sup>
                    </m:sSup>
                    <m:r>
                      <a:rPr lang="pt-PT" b="0" i="0" noProof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endParaRPr lang="pt-PT" b="0" noProof="1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noProof="1"/>
                  <a:t>Brzozowki’s construction yields: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89ED4706-43CE-D074-6607-8EA17E8E7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C0E7D675-36E6-F807-F48D-5D6529DA2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18FFBBA1-38C8-8879-EBA8-06F422C95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B995D6F-6803-3CC0-ECF1-952262599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497" y="3639964"/>
            <a:ext cx="7746153" cy="181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04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161AC-A51B-F809-FD58-AF775312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Modified</a:t>
            </a:r>
            <a:r>
              <a:rPr lang="pt-PT" dirty="0"/>
              <a:t> </a:t>
            </a:r>
            <a:r>
              <a:rPr lang="pt-PT" dirty="0" err="1"/>
              <a:t>Position</a:t>
            </a:r>
            <a:r>
              <a:rPr lang="pt-PT" dirty="0"/>
              <a:t> </a:t>
            </a:r>
            <a:r>
              <a:rPr lang="pt-PT" dirty="0" err="1"/>
              <a:t>Automaton</a:t>
            </a:r>
            <a:endParaRPr lang="en-US" dirty="0"/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257391B9-4FA2-1DEF-8F34-06F944D46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271BDA42-E917-5B81-8239-2C8E9445B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FFE48F8-D27D-BA0A-66E1-A902F0035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721" y="2423908"/>
            <a:ext cx="6402773" cy="314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86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09BB4-3088-8B95-E0D0-0712895D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Modified</a:t>
            </a:r>
            <a:r>
              <a:rPr lang="pt-PT" dirty="0"/>
              <a:t> </a:t>
            </a:r>
            <a:r>
              <a:rPr lang="pt-PT" dirty="0" err="1"/>
              <a:t>Position</a:t>
            </a:r>
            <a:r>
              <a:rPr lang="pt-PT" dirty="0"/>
              <a:t> </a:t>
            </a:r>
            <a:r>
              <a:rPr lang="pt-PT" dirty="0" err="1"/>
              <a:t>Automaton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7B9DB3C-F59A-1639-627D-4B017E770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6119"/>
                <a:ext cx="10515600" cy="97472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𝑎𝑎𝑎</m:t>
                          </m:r>
                        </m:e>
                      </m:d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𝑎𝑎𝑎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𝑎𝑎</m:t>
                          </m:r>
                        </m:e>
                      </m:d>
                    </m:oMath>
                  </m:oMathPara>
                </a14:m>
                <a:endParaRPr lang="pt-PT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𝑎𝑎𝑎𝑎𝑎𝑏𝑎𝑎𝑎𝑎𝑎</m:t>
                      </m:r>
                    </m:oMath>
                  </m:oMathPara>
                </a14:m>
                <a:endParaRPr lang="pt-PT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7B9DB3C-F59A-1639-627D-4B017E770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6119"/>
                <a:ext cx="10515600" cy="9747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38927EBE-3804-C9E3-D30B-D8B0F3F72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D3BA94A7-B376-E053-AF38-43B37B340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FA63660-530A-EEFA-98CE-C20625E5B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" y="2660650"/>
            <a:ext cx="6489700" cy="20985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8B01C20-F03F-4665-4743-B01962FBA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4350" y="4057651"/>
            <a:ext cx="6489700" cy="2549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3" name="Conexão: Ângulo Reto 12">
            <a:extLst>
              <a:ext uri="{FF2B5EF4-FFF2-40B4-BE49-F238E27FC236}">
                <a16:creationId xmlns:a16="http://schemas.microsoft.com/office/drawing/2014/main" id="{4EDE48FA-C6F2-9892-2B73-24B91C21D3DE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>
            <a:off x="6597650" y="3709936"/>
            <a:ext cx="2241550" cy="3477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51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6B54-3FB8-6D23-FA60-8730CA7E2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18288-B39C-E1F7-0EE3-801039BD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Modified</a:t>
            </a:r>
            <a:r>
              <a:rPr lang="pt-PT" dirty="0"/>
              <a:t> </a:t>
            </a:r>
            <a:r>
              <a:rPr lang="pt-PT" dirty="0" err="1"/>
              <a:t>Position</a:t>
            </a:r>
            <a:r>
              <a:rPr lang="pt-PT" dirty="0"/>
              <a:t> </a:t>
            </a:r>
            <a:r>
              <a:rPr lang="pt-PT" dirty="0" err="1"/>
              <a:t>Automaton</a:t>
            </a:r>
            <a:endParaRPr lang="en-US" dirty="0"/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E1A19833-1272-6544-F06E-21C8E24D2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34BBA32E-93F4-D1E9-869B-7DF2D227E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B483AEE-0029-1D01-C0F6-E4BAE2EAA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1629025"/>
            <a:ext cx="9410700" cy="5228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4E96260-34D0-D24E-5A5C-25B5322019ED}"/>
                  </a:ext>
                </a:extLst>
              </p:cNvPr>
              <p:cNvSpPr txBox="1"/>
              <p:nvPr/>
            </p:nvSpPr>
            <p:spPr>
              <a:xfrm>
                <a:off x="69850" y="1654300"/>
                <a:ext cx="28829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𝑎𝑎𝑎𝑎𝑎𝑏𝑎𝑎𝑎𝑎𝑎</m:t>
                      </m:r>
                    </m:oMath>
                  </m:oMathPara>
                </a14:m>
                <a:endParaRPr lang="pt-PT" b="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4E96260-34D0-D24E-5A5C-25B532201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" y="1654300"/>
                <a:ext cx="28829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m 15">
            <a:extLst>
              <a:ext uri="{FF2B5EF4-FFF2-40B4-BE49-F238E27FC236}">
                <a16:creationId xmlns:a16="http://schemas.microsoft.com/office/drawing/2014/main" id="{752CF2A2-3BD0-CFCF-346B-24BC92C90C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989" y="2617490"/>
            <a:ext cx="1976621" cy="1998184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A087F87-F28D-D79D-81A1-20E9E2F1FD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368" y="4672187"/>
            <a:ext cx="2456932" cy="89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27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C0772-3103-FBCD-48E8-0B2BF965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Implementation</a:t>
            </a:r>
            <a:endParaRPr lang="en-US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5180638-1BFD-8564-7443-A1DF93BA1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New </a:t>
            </a:r>
            <a:r>
              <a:rPr lang="pt-PT" dirty="0" err="1"/>
              <a:t>class</a:t>
            </a:r>
            <a:r>
              <a:rPr lang="pt-PT" dirty="0"/>
              <a:t>: </a:t>
            </a:r>
            <a:r>
              <a:rPr lang="pt-PT" i="1" dirty="0" err="1"/>
              <a:t>matchNFA</a:t>
            </a:r>
            <a:endParaRPr lang="pt-PT" i="1" dirty="0"/>
          </a:p>
          <a:p>
            <a:pPr marL="0" indent="0">
              <a:buNone/>
            </a:pPr>
            <a:endParaRPr lang="pt-PT" i="1" dirty="0"/>
          </a:p>
          <a:p>
            <a:r>
              <a:rPr lang="pt-PT" b="1" i="1" dirty="0" err="1"/>
              <a:t>table_matcher</a:t>
            </a:r>
            <a:r>
              <a:rPr lang="pt-PT" dirty="0"/>
              <a:t>: </a:t>
            </a:r>
            <a:r>
              <a:rPr lang="pt-PT" dirty="0" err="1"/>
              <a:t>Responsible</a:t>
            </a:r>
            <a:r>
              <a:rPr lang="pt-PT" dirty="0"/>
              <a:t> for </a:t>
            </a:r>
            <a:r>
              <a:rPr lang="pt-PT" dirty="0" err="1"/>
              <a:t>creating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matching</a:t>
            </a:r>
            <a:r>
              <a:rPr lang="pt-PT" dirty="0"/>
              <a:t> </a:t>
            </a:r>
            <a:r>
              <a:rPr lang="pt-PT" dirty="0" err="1"/>
              <a:t>table</a:t>
            </a:r>
            <a:endParaRPr lang="pt-PT" dirty="0"/>
          </a:p>
          <a:p>
            <a:r>
              <a:rPr lang="pt-PT" b="1" i="1" dirty="0" err="1"/>
              <a:t>enum_matches</a:t>
            </a:r>
            <a:r>
              <a:rPr lang="pt-PT" dirty="0"/>
              <a:t>: Display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formatted</a:t>
            </a:r>
            <a:r>
              <a:rPr lang="pt-PT" dirty="0"/>
              <a:t> </a:t>
            </a:r>
            <a:r>
              <a:rPr lang="pt-PT" dirty="0" err="1"/>
              <a:t>matching</a:t>
            </a:r>
            <a:r>
              <a:rPr lang="pt-PT" dirty="0"/>
              <a:t> </a:t>
            </a:r>
            <a:r>
              <a:rPr lang="pt-PT" dirty="0" err="1"/>
              <a:t>table</a:t>
            </a:r>
            <a:r>
              <a:rPr lang="pt-PT" dirty="0"/>
              <a:t> data</a:t>
            </a:r>
          </a:p>
          <a:p>
            <a:r>
              <a:rPr lang="pt-PT" b="1" i="1" dirty="0" err="1"/>
              <a:t>nfaPosCount</a:t>
            </a:r>
            <a:r>
              <a:rPr lang="pt-PT" dirty="0"/>
              <a:t>: </a:t>
            </a:r>
            <a:r>
              <a:rPr lang="pt-PT" dirty="0" err="1"/>
              <a:t>Modified</a:t>
            </a:r>
            <a:r>
              <a:rPr lang="pt-PT" dirty="0"/>
              <a:t> </a:t>
            </a:r>
            <a:r>
              <a:rPr lang="pt-PT" dirty="0" err="1"/>
              <a:t>Position</a:t>
            </a:r>
            <a:r>
              <a:rPr lang="pt-PT" dirty="0"/>
              <a:t> </a:t>
            </a:r>
            <a:r>
              <a:rPr lang="pt-PT" dirty="0" err="1"/>
              <a:t>Automaton</a:t>
            </a:r>
            <a:r>
              <a:rPr lang="pt-PT" dirty="0"/>
              <a:t> </a:t>
            </a:r>
            <a:r>
              <a:rPr lang="pt-PT" dirty="0" err="1"/>
              <a:t>builder</a:t>
            </a:r>
            <a:endParaRPr lang="en-US" dirty="0"/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72C7D8E0-5579-C669-C21C-E6AEEDDA9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6BB952E8-E266-4BDF-45BA-CBA181E32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459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AC081-3CE4-AF8B-531E-6DDB316A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3625"/>
          </a:xfrm>
        </p:spPr>
        <p:txBody>
          <a:bodyPr/>
          <a:lstStyle/>
          <a:p>
            <a:pPr algn="ctr"/>
            <a:r>
              <a:rPr lang="en-US" dirty="0"/>
              <a:t>Demonstration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D34053FA-74A2-8B05-682B-A7409F785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31B8C8C0-74DF-BB91-2CA1-711007381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736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31110-3E4C-5366-6668-137F8A6E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Limitations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177B3D42-2FE9-A6C0-E750-731F701AE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40687" cy="4351338"/>
              </a:xfrm>
            </p:spPr>
            <p:txBody>
              <a:bodyPr/>
              <a:lstStyle/>
              <a:p>
                <a:r>
                  <a:rPr lang="pt-PT" dirty="0"/>
                  <a:t>Match </a:t>
                </a:r>
                <a:r>
                  <a:rPr lang="pt-PT" dirty="0" err="1"/>
                  <a:t>table</a:t>
                </a:r>
                <a:r>
                  <a:rPr lang="pt-PT" dirty="0"/>
                  <a:t> </a:t>
                </a:r>
                <a:r>
                  <a:rPr lang="pt-PT" dirty="0" err="1"/>
                  <a:t>size</a:t>
                </a:r>
                <a:endParaRPr lang="pt-PT" dirty="0"/>
              </a:p>
              <a:p>
                <a:r>
                  <a:rPr lang="en-US" dirty="0"/>
                  <a:t>Automaton construction size</a:t>
                </a:r>
              </a:p>
              <a:p>
                <a:pPr marL="0" indent="0">
                  <a:buNone/>
                </a:pPr>
                <a:endParaRPr lang="en-US" u="sng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Number of states for any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pt-PT" b="0" dirty="0"/>
                  <a:t> </a:t>
                </a:r>
                <a:r>
                  <a:rPr lang="pt-PT" b="0" dirty="0" err="1"/>
                  <a:t>is</a:t>
                </a:r>
                <a:r>
                  <a:rPr lang="pt-PT" b="0" dirty="0"/>
                  <a:t> </a:t>
                </a:r>
                <a:r>
                  <a:rPr lang="pt-PT" b="0" dirty="0" err="1"/>
                  <a:t>given</a:t>
                </a:r>
                <a:r>
                  <a:rPr lang="pt-PT" b="0" dirty="0"/>
                  <a:t> </a:t>
                </a:r>
                <a:r>
                  <a:rPr lang="pt-PT" b="0" dirty="0" err="1"/>
                  <a:t>by</a:t>
                </a:r>
                <a:r>
                  <a:rPr lang="pt-PT" b="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P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nary>
                  </m:oMath>
                </a14:m>
                <a:endParaRPr lang="pt-PT" b="0" dirty="0"/>
              </a:p>
              <a:p>
                <a:pPr marL="0" indent="0">
                  <a:buNone/>
                </a:pPr>
                <a:r>
                  <a:rPr lang="pt-PT" dirty="0"/>
                  <a:t>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1,50</m:t>
                        </m:r>
                      </m:sup>
                    </m:sSup>
                  </m:oMath>
                </a14:m>
                <a:r>
                  <a:rPr lang="pt-PT" b="0" dirty="0"/>
                  <a:t> </a:t>
                </a:r>
                <a:r>
                  <a:rPr lang="pt-PT" b="0" dirty="0" err="1"/>
                  <a:t>contains</a:t>
                </a:r>
                <a:r>
                  <a:rPr lang="pt-PT" b="0" dirty="0"/>
                  <a:t> 1227 </a:t>
                </a:r>
                <a:r>
                  <a:rPr lang="pt-PT" b="0" dirty="0" err="1"/>
                  <a:t>states</a:t>
                </a:r>
                <a:endParaRPr lang="pt-PT" b="0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177B3D42-2FE9-A6C0-E750-731F701AE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40687" cy="4351338"/>
              </a:xfrm>
              <a:blipFill>
                <a:blip r:embed="rId2"/>
                <a:stretch>
                  <a:fillRect l="-239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37698A07-C4F6-53C8-AE6B-015A1DDC7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048E550F-BEA4-1DE3-F3CB-96740D208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2C2C520-8ED3-A7EA-8628-AF1458F445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213" y="1343415"/>
            <a:ext cx="5340687" cy="514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0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74D9C-B456-F386-D3EA-C76647EC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Conclusion</a:t>
            </a:r>
            <a:endParaRPr lang="en-US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89C52DF-78A6-14D1-9DC9-E3781F652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30900" cy="4351338"/>
          </a:xfrm>
        </p:spPr>
        <p:txBody>
          <a:bodyPr/>
          <a:lstStyle/>
          <a:p>
            <a:r>
              <a:rPr lang="pt-PT" dirty="0" err="1"/>
              <a:t>Datasets</a:t>
            </a:r>
            <a:r>
              <a:rPr lang="pt-PT" dirty="0"/>
              <a:t> </a:t>
            </a:r>
            <a:r>
              <a:rPr lang="pt-PT" dirty="0" err="1"/>
              <a:t>don’t</a:t>
            </a:r>
            <a:r>
              <a:rPr lang="pt-PT" dirty="0"/>
              <a:t> </a:t>
            </a:r>
            <a:r>
              <a:rPr lang="pt-PT" dirty="0" err="1"/>
              <a:t>usually</a:t>
            </a:r>
            <a:r>
              <a:rPr lang="pt-PT" dirty="0"/>
              <a:t> </a:t>
            </a:r>
            <a:r>
              <a:rPr lang="pt-PT" dirty="0" err="1"/>
              <a:t>include</a:t>
            </a:r>
            <a:r>
              <a:rPr lang="pt-PT" dirty="0"/>
              <a:t> </a:t>
            </a:r>
            <a:r>
              <a:rPr lang="pt-PT" dirty="0" err="1"/>
              <a:t>overlapping</a:t>
            </a:r>
            <a:endParaRPr lang="pt-PT" dirty="0"/>
          </a:p>
          <a:p>
            <a:r>
              <a:rPr lang="pt-PT" dirty="0" err="1"/>
              <a:t>Moving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Python</a:t>
            </a:r>
            <a:endParaRPr lang="pt-PT" dirty="0"/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DEB87E94-C162-6C0D-4D43-E20F03471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A1225E4A-1D07-412E-D3DF-CA9ABF5AA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986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F6F6C-9A4F-5DCA-5A0A-5E42D15E8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6475"/>
          </a:xfrm>
        </p:spPr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  <p:pic>
        <p:nvPicPr>
          <p:cNvPr id="4" name="Imagem 3" descr="Uma imagem com Tipo de letra, captura de ecrã, texto, Gráficos&#10;&#10;Os conteúdos gerados por IA podem estar incorretos.">
            <a:extLst>
              <a:ext uri="{FF2B5EF4-FFF2-40B4-BE49-F238E27FC236}">
                <a16:creationId xmlns:a16="http://schemas.microsoft.com/office/drawing/2014/main" id="{3EA07E44-64E9-5B07-3C74-EC51BAFC6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316" y="23073"/>
            <a:ext cx="3009684" cy="1264067"/>
          </a:xfrm>
          <a:prstGeom prst="rect">
            <a:avLst/>
          </a:prstGeom>
        </p:spPr>
      </p:pic>
      <p:pic>
        <p:nvPicPr>
          <p:cNvPr id="5" name="Picture 2" descr="ToPAS">
            <a:extLst>
              <a:ext uri="{FF2B5EF4-FFF2-40B4-BE49-F238E27FC236}">
                <a16:creationId xmlns:a16="http://schemas.microsoft.com/office/drawing/2014/main" id="{188FDCAF-9F2B-757A-B86A-BE9072913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995" y="0"/>
            <a:ext cx="1685423" cy="126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972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6242</TotalTime>
  <Words>827</Words>
  <Application>Microsoft Office PowerPoint</Application>
  <PresentationFormat>Ecrã Panorâmico</PresentationFormat>
  <Paragraphs>213</Paragraphs>
  <Slides>30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Wingdings</vt:lpstr>
      <vt:lpstr>Tema do Office</vt:lpstr>
      <vt:lpstr>Efficient Regular Pattern Matching avoiding Denial of Service</vt:lpstr>
      <vt:lpstr>Contents</vt:lpstr>
      <vt:lpstr>Motivation</vt:lpstr>
      <vt:lpstr>Automata</vt:lpstr>
      <vt:lpstr>Regular Expressions</vt:lpstr>
      <vt:lpstr>Regex Matchers</vt:lpstr>
      <vt:lpstr>Regular Expression Denial of Service</vt:lpstr>
      <vt:lpstr>StackOverflow 2016 outage</vt:lpstr>
      <vt:lpstr>CVE-2022-3517</vt:lpstr>
      <vt:lpstr>Legacy</vt:lpstr>
      <vt:lpstr>Single and Sub-Matching</vt:lpstr>
      <vt:lpstr>FAdo</vt:lpstr>
      <vt:lpstr>POSIX Syntax</vt:lpstr>
      <vt:lpstr>PCRE Syntax</vt:lpstr>
      <vt:lpstr>State of the art</vt:lpstr>
      <vt:lpstr>Detecting ReDoS</vt:lpstr>
      <vt:lpstr>Counting</vt:lpstr>
      <vt:lpstr>Counting</vt:lpstr>
      <vt:lpstr>Counting</vt:lpstr>
      <vt:lpstr>Multiple Matching</vt:lpstr>
      <vt:lpstr>Overlapped versus Non-overlapped matching</vt:lpstr>
      <vt:lpstr>Modified Position Automaton</vt:lpstr>
      <vt:lpstr>Modified Position Automaton</vt:lpstr>
      <vt:lpstr>Modified Position Automaton</vt:lpstr>
      <vt:lpstr>Modified Position Automaton</vt:lpstr>
      <vt:lpstr>Implementation</vt:lpstr>
      <vt:lpstr>Demonstration</vt:lpstr>
      <vt:lpstr>Limitations</vt:lpstr>
      <vt:lpstr>Conclusion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Resende</dc:creator>
  <cp:lastModifiedBy>Daniel Resende</cp:lastModifiedBy>
  <cp:revision>19</cp:revision>
  <dcterms:created xsi:type="dcterms:W3CDTF">2025-11-01T12:56:41Z</dcterms:created>
  <dcterms:modified xsi:type="dcterms:W3CDTF">2025-12-04T12:28:54Z</dcterms:modified>
</cp:coreProperties>
</file>